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Passed</c:v>
                </c:pt>
              </c:strCache>
            </c:strRef>
          </c:tx>
          <c:spPr>
            <a:solidFill>
              <a:srgbClr val="4FD1C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Manual</c:v>
                  </c:pt>
                  <c:pt idx="1">
                    <c:v>Unit</c:v>
                  </c:pt>
                  <c:pt idx="2">
                    <c:v>Selenium</c:v>
                  </c:pt>
                  <c:pt idx="3">
                    <c:v>Robot</c:v>
                  </c:pt>
                  <c:pt idx="4">
                    <c:v>Postman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</c:v>
                </c:pt>
                <c:pt idx="1">
                  <c:v>8</c:v>
                </c:pt>
                <c:pt idx="2">
                  <c:v>2</c:v>
                </c:pt>
                <c:pt idx="3">
                  <c:v>2</c:v>
                </c:pt>
                <c:pt idx="4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Failed</c:v>
                </c:pt>
              </c:strCache>
            </c:strRef>
          </c:tx>
          <c:spPr>
            <a:solidFill>
              <a:srgbClr val="E86C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Manual</c:v>
                  </c:pt>
                  <c:pt idx="1">
                    <c:v>Unit</c:v>
                  </c:pt>
                  <c:pt idx="2">
                    <c:v>Selenium</c:v>
                  </c:pt>
                  <c:pt idx="3">
                    <c:v>Robot</c:v>
                  </c:pt>
                  <c:pt idx="4">
                    <c:v>Postman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5A6B7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F1F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A4A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5A6B7A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8F1F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1295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E8F1F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21295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286000"/>
            <a:ext cx="6400800" cy="64008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D3E8"/>
                </a:solidFill>
              </a:rPr>
              <a:t>TOOLS FOR SOFTWARE DEVELOPMENT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Defense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F1F5"/>
                </a:solidFill>
              </a:rPr>
              <a:t>System under test: Demo Web Shop  ·  Team TeamVeryOrganized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24612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065A82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344728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435" y="3518611"/>
            <a:ext cx="405994" cy="40599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33558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Simon Almeida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600200" y="36576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D3E8"/>
                </a:solidFill>
              </a:rPr>
              <a:t>Test Manager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600200" y="39044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1F5"/>
                </a:solidFill>
              </a:rPr>
              <a:t>Lab 2 — JUnit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89120" y="324612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065A82">
              <a:alpha val="4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4553712" y="344728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035" y="3518611"/>
            <a:ext cx="405994" cy="40599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33558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Antoine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257800" y="36576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D3E8"/>
                </a:solidFill>
              </a:rPr>
              <a:t>Test Designer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257800" y="39044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1F5"/>
                </a:solidFill>
              </a:rPr>
              <a:t>Lab 3 — Test design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046720" y="324612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065A82">
              <a:alpha val="45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8211312" y="344728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2635" y="3518611"/>
            <a:ext cx="405994" cy="40599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915400" y="33558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Louis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915400" y="36576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D3E8"/>
                </a:solidFill>
              </a:rPr>
              <a:t>Automation Tester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915400" y="39044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1F5"/>
                </a:solidFill>
              </a:rPr>
              <a:t>Lab 4 — Selenium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731520" y="438912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065A82">
              <a:alpha val="45000"/>
            </a:srgbClr>
          </a:solidFill>
          <a:ln/>
        </p:spPr>
      </p:sp>
      <p:sp>
        <p:nvSpPr>
          <p:cNvPr id="25" name="Shape 20"/>
          <p:cNvSpPr/>
          <p:nvPr/>
        </p:nvSpPr>
        <p:spPr>
          <a:xfrm>
            <a:off x="896112" y="459028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435" y="4661611"/>
            <a:ext cx="405994" cy="40599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600200" y="44988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Emilien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1600200" y="48006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D3E8"/>
                </a:solidFill>
              </a:rPr>
              <a:t>Automation Tester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1600200" y="50474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1F5"/>
                </a:solidFill>
              </a:rPr>
              <a:t>Lab 5 — Robot Framework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4389120" y="438912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1" name="Shape 25"/>
          <p:cNvSpPr/>
          <p:nvPr/>
        </p:nvSpPr>
        <p:spPr>
          <a:xfrm>
            <a:off x="4553712" y="459028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5035" y="4661611"/>
            <a:ext cx="405994" cy="40599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257800" y="44988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Luccas Collas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5257800" y="48006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D3E8"/>
                </a:solidFill>
              </a:rPr>
              <a:t>API Tester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5257800" y="50474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1F5"/>
                </a:solidFill>
              </a:rPr>
              <a:t>Lab 6 — Postman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8046720" y="438912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7" name="Shape 30"/>
          <p:cNvSpPr/>
          <p:nvPr/>
        </p:nvSpPr>
        <p:spPr>
          <a:xfrm>
            <a:off x="8211312" y="459028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2635" y="4661611"/>
            <a:ext cx="405994" cy="40599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8915400" y="44988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Khalid Oumarou</a:t>
            </a:r>
            <a:endParaRPr lang="en-US" sz="1500" dirty="0"/>
          </a:p>
        </p:txBody>
      </p:sp>
      <p:sp>
        <p:nvSpPr>
          <p:cNvPr id="40" name="Text 32"/>
          <p:cNvSpPr/>
          <p:nvPr/>
        </p:nvSpPr>
        <p:spPr>
          <a:xfrm>
            <a:off x="8915400" y="48006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D3E8"/>
                </a:solidFill>
              </a:rPr>
              <a:t>Documentation Lead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8915400" y="504748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1F5"/>
                </a:solidFill>
              </a:rPr>
              <a:t>Repository &amp; Report</a:t>
            </a:r>
            <a:endParaRPr lang="en-US" sz="1050" dirty="0"/>
          </a:p>
        </p:txBody>
      </p:sp>
      <p:sp>
        <p:nvSpPr>
          <p:cNvPr id="42" name="Text 34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1 / 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</a:rPr>
              <a:t>SYSTEM UNDER TEST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Web Shop — Application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E8F1F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020" y="161986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5361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</a:rPr>
              <a:t>Demo Web Shop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34440" y="18288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</a:rPr>
              <a:t>demowebshop.tricentis.com — public nopCommerce e-commerce sandbox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E8F1F5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560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In scope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2926080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300" dirty="0">
                <a:solidFill>
                  <a:srgbClr val="21295C"/>
                </a:solidFill>
              </a:rPr>
              <a:t>Registration / login / logout</a:t>
            </a:r>
            <a:endParaRPr lang="en-US" sz="1300" dirty="0"/>
          </a:p>
          <a:p>
            <a:pPr marL="342900" indent="-342900">
              <a:buSzPct val="100000"/>
              <a:buChar char="✓"/>
            </a:pPr>
            <a:r>
              <a:rPr lang="en-US" sz="1300" dirty="0">
                <a:solidFill>
                  <a:srgbClr val="21295C"/>
                </a:solidFill>
              </a:rPr>
              <a:t>Product search (incl. no-result handling)</a:t>
            </a:r>
            <a:endParaRPr lang="en-US" sz="1300" dirty="0"/>
          </a:p>
          <a:p>
            <a:pPr marL="342900" indent="-342900">
              <a:buSzPct val="100000"/>
              <a:buChar char="✓"/>
            </a:pPr>
            <a:r>
              <a:rPr lang="en-US" sz="1300" dirty="0">
                <a:solidFill>
                  <a:srgbClr val="21295C"/>
                </a:solidFill>
              </a:rPr>
              <a:t>Product detail &amp; add-to-cart</a:t>
            </a:r>
            <a:endParaRPr lang="en-US" sz="1300" dirty="0"/>
          </a:p>
          <a:p>
            <a:pPr marL="342900" indent="-342900">
              <a:buSzPct val="100000"/>
              <a:buChar char="✓"/>
            </a:pPr>
            <a:r>
              <a:rPr lang="en-US" sz="1300" dirty="0">
                <a:solidFill>
                  <a:srgbClr val="21295C"/>
                </a:solidFill>
              </a:rPr>
              <a:t>Cart management (update / remove)</a:t>
            </a:r>
            <a:endParaRPr lang="en-US" sz="1300" dirty="0"/>
          </a:p>
          <a:p>
            <a:pPr marL="342900" indent="-342900">
              <a:buSzPct val="100000"/>
              <a:buChar char="✓"/>
            </a:pPr>
            <a:r>
              <a:rPr lang="en-US" sz="1300" dirty="0">
                <a:solidFill>
                  <a:srgbClr val="21295C"/>
                </a:solidFill>
              </a:rPr>
              <a:t>Checkout &amp; required-field validation</a:t>
            </a:r>
            <a:endParaRPr lang="en-US" sz="1300" dirty="0"/>
          </a:p>
          <a:p>
            <a:pPr marL="342900" indent="-342900">
              <a:buSzPct val="100000"/>
              <a:buChar char="✓"/>
            </a:pPr>
            <a:r>
              <a:rPr lang="en-US" sz="1300" dirty="0">
                <a:solidFill>
                  <a:srgbClr val="21295C"/>
                </a:solidFill>
              </a:rPr>
              <a:t>Newsletter subscription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237744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4F4F4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2560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6B7A"/>
                </a:solidFill>
              </a:rPr>
              <a:t>Out of scope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92240" y="2926080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✗"/>
            </a:pPr>
            <a:r>
              <a:rPr lang="en-US" sz="1300" dirty="0">
                <a:solidFill>
                  <a:srgbClr val="5A6B7A"/>
                </a:solidFill>
              </a:rPr>
              <a:t>Real payments &amp; order fulfilment</a:t>
            </a:r>
            <a:endParaRPr lang="en-US" sz="1300" dirty="0"/>
          </a:p>
          <a:p>
            <a:pPr marL="342900" indent="-342900">
              <a:buSzPct val="100000"/>
              <a:buChar char="✗"/>
            </a:pPr>
            <a:r>
              <a:rPr lang="en-US" sz="1300" dirty="0">
                <a:solidFill>
                  <a:srgbClr val="5A6B7A"/>
                </a:solidFill>
              </a:rPr>
              <a:t>Admin / back-office</a:t>
            </a:r>
            <a:endParaRPr lang="en-US" sz="1300" dirty="0"/>
          </a:p>
          <a:p>
            <a:pPr marL="342900" indent="-342900">
              <a:buSzPct val="100000"/>
              <a:buChar char="✗"/>
            </a:pPr>
            <a:r>
              <a:rPr lang="en-US" sz="1300" dirty="0">
                <a:solidFill>
                  <a:srgbClr val="5A6B7A"/>
                </a:solidFill>
              </a:rPr>
              <a:t>Performance &amp; load testing</a:t>
            </a:r>
            <a:endParaRPr lang="en-US" sz="1300" dirty="0"/>
          </a:p>
          <a:p>
            <a:pPr marL="342900" indent="-342900">
              <a:buSzPct val="100000"/>
              <a:buChar char="✗"/>
            </a:pPr>
            <a:r>
              <a:rPr lang="en-US" sz="1300" dirty="0">
                <a:solidFill>
                  <a:srgbClr val="5A6B7A"/>
                </a:solidFill>
              </a:rPr>
              <a:t>Mobile-native apps</a:t>
            </a:r>
            <a:endParaRPr lang="en-US" sz="1300" dirty="0"/>
          </a:p>
          <a:p>
            <a:pPr marL="342900" indent="-342900">
              <a:buSzPct val="100000"/>
              <a:buChar char="✗"/>
            </a:pPr>
            <a:r>
              <a:rPr lang="en-US" sz="1300" dirty="0">
                <a:solidFill>
                  <a:srgbClr val="5A6B7A"/>
                </a:solidFill>
              </a:rPr>
              <a:t>Public REST API on the SUT itself (none exposed)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</a:rPr>
              <a:t>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Strategy — A Layered Testing Story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E8F1F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7734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550" y="191201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6060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</a:rPr>
              <a:t>Unit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85800" y="30175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</a:rPr>
              <a:t>JUnit 5 + JaCoCo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" y="35204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A"/>
                </a:solidFill>
              </a:rPr>
              <a:t>Business logic (Rating class)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85800" y="39319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8 tests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429000" y="155448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E8F1F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5770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910" y="1912010"/>
            <a:ext cx="473659" cy="47365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29000" y="26060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</a:rPr>
              <a:t>Manual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3566160" y="30175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</a:rPr>
              <a:t>Design techniques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566160" y="35204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A"/>
                </a:solidFill>
              </a:rPr>
              <a:t>Functional &amp; validation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3566160" y="39319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12 cases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309360" y="155448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E8F1F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3380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1270" y="1912010"/>
            <a:ext cx="473659" cy="47365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09360" y="26060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</a:rPr>
              <a:t>UI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6446520" y="30175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</a:rPr>
              <a:t>Selenium + Robot Framework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446520" y="35204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A"/>
                </a:solidFill>
              </a:rPr>
              <a:t>Login, search, cart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6446520" y="39319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4 tests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9189720" y="1554480"/>
            <a:ext cx="2697480" cy="2743200"/>
          </a:xfrm>
          <a:prstGeom prst="roundRect">
            <a:avLst>
              <a:gd name="adj" fmla="val 3390"/>
            </a:avLst>
          </a:prstGeom>
          <a:solidFill>
            <a:srgbClr val="E8F1F5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1021842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1630" y="1912010"/>
            <a:ext cx="473659" cy="473659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89720" y="26060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1295C"/>
                </a:solidFill>
              </a:rPr>
              <a:t>API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9326880" y="30175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</a:rPr>
              <a:t>Postman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9326880" y="35204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A"/>
                </a:solidFill>
              </a:rPr>
              <a:t>JSONPlaceholder sandbox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9326880" y="39319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4 req / 9 asserts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548640" y="45720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6B7A"/>
                </a:solidFill>
              </a:rPr>
              <a:t>6 design techniques used: equivalence partitioning · boundary value analysis · decision table · state transition · use case testing · error guessing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</a:rPr>
              <a:t>LAB 3 — ANTOINE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 Cases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12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1F5"/>
                </a:solidFill>
              </a:rPr>
              <a:t>test cases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08960" y="1600200"/>
          <a:ext cx="8503920" cy="2377440"/>
        </p:xfrm>
        <a:graphic>
          <a:graphicData uri="http://schemas.openxmlformats.org/drawingml/2006/table">
            <a:tbl>
              <a:tblPr/>
              <a:tblGrid>
                <a:gridCol w="1188720"/>
                <a:gridCol w="3749040"/>
                <a:gridCol w="1645920"/>
                <a:gridCol w="192024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TC-002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Login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Positive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Passed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TC-004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Login (wrong password)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Negative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Passed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TC-007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Password length boundary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Boundary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Passed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TC-010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Cart state transitions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Workflow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Passed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TC-012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Checkout — empty required field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Boundary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Failed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48640" y="4297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</a:rPr>
              <a:t>Categories covered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466344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5A6B7A"/>
                </a:solidFill>
              </a:rPr>
              <a:t>3 positive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5A6B7A"/>
                </a:solidFill>
              </a:rPr>
              <a:t>3 negative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5A6B7A"/>
                </a:solidFill>
              </a:rPr>
              <a:t>2 boundary / equivalence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5A6B7A"/>
                </a:solidFill>
              </a:rPr>
              <a:t>2 workflow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5A6B7A"/>
                </a:solidFill>
              </a:rPr>
              <a:t>2 extra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0" y="4297680"/>
            <a:ext cx="457200" cy="457200"/>
          </a:xfrm>
          <a:prstGeom prst="ellipse">
            <a:avLst/>
          </a:prstGeom>
          <a:solidFill>
            <a:srgbClr val="FDF3E3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0236" y="4357116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95160" y="43434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95C"/>
                </a:solidFill>
              </a:rPr>
              <a:t>11 / 12 passed (91.7%) — the one failure produced a documented defect (next slide).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</a:rPr>
              <a:t>LAB 3 — DEFECT REPORT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BUG-001 — Checkout Accepts an Empty Required Field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CEBE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" y="185440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8308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</a:rPr>
              <a:t>Severity: Major</a:t>
            </a:r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</a:rPr>
              <a:t>   ·   Priority: High   ·   Status: Open   ·   Related: TC-012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2743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</a:rPr>
              <a:t>Steps to reproduce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3108960"/>
            <a:ext cx="5669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5A6B7A"/>
                </a:solidFill>
              </a:rPr>
              <a:t>Log in with the shared test account</a:t>
            </a:r>
            <a:endParaRPr lang="en-US" sz="12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5A6B7A"/>
                </a:solidFill>
              </a:rPr>
              <a:t>Add a product and open the cart, accept ToS, click Checkout</a:t>
            </a:r>
            <a:endParaRPr lang="en-US" sz="12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5A6B7A"/>
                </a:solidFill>
              </a:rPr>
              <a:t>On Billing address, leave “Last name” empty; fill everything else</a:t>
            </a:r>
            <a:endParaRPr lang="en-US" sz="12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5A6B7A"/>
                </a:solidFill>
              </a:rPr>
              <a:t>Click Continue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92240" y="274320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E8F1F5"/>
          </a:solidFill>
          <a:ln/>
        </p:spPr>
      </p:sp>
      <p:sp>
        <p:nvSpPr>
          <p:cNvPr id="11" name="Shape 8"/>
          <p:cNvSpPr/>
          <p:nvPr/>
        </p:nvSpPr>
        <p:spPr>
          <a:xfrm>
            <a:off x="6675120" y="292608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669" y="2973629"/>
            <a:ext cx="270662" cy="2706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28803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Expected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7178040" y="315468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</a:rPr>
              <a:t>Form blocked with “Last name is required.”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92240" y="425196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CEBEA"/>
          </a:solidFill>
          <a:ln/>
        </p:spPr>
      </p:sp>
      <p:sp>
        <p:nvSpPr>
          <p:cNvPr id="16" name="Shape 12"/>
          <p:cNvSpPr/>
          <p:nvPr/>
        </p:nvSpPr>
        <p:spPr>
          <a:xfrm>
            <a:off x="6675120" y="443484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669" y="4482389"/>
            <a:ext cx="270662" cy="27066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178040" y="43891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</a:rPr>
              <a:t>Actual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178040" y="466344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</a:rPr>
              <a:t>Form accepted, order can proceed with incomplete billing name.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A"/>
                </a:solidFill>
              </a:rPr>
              <a:t>Suggested fix: enforce required-field validation on “Last name” client- and server-side, consistent with “First name”.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</a:rPr>
              <a:t>LAB 4 — LOUIS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Automation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" cy="548640"/>
          </a:xfrm>
          <a:prstGeom prst="ellipse">
            <a:avLst/>
          </a:prstGeom>
          <a:solidFill>
            <a:srgbClr val="E8F1F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" y="1671523"/>
            <a:ext cx="405994" cy="4059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</a:rPr>
              <a:t>Selenium WebDriver 4 + Java + JUnit 5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34440" y="1965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src/test/java/DemoWebShopUITest.java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7315200" cy="1005840"/>
        </p:xfrm>
        <a:graphic>
          <a:graphicData uri="http://schemas.openxmlformats.org/drawingml/2006/table">
            <a:tbl>
              <a:tblPr/>
              <a:tblGrid>
                <a:gridCol w="2926080"/>
                <a:gridCol w="3291840"/>
                <a:gridCol w="109728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Assertion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shouldLoginSuccessfully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Header account link contains email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shouldSearchProduct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Search input retains value “book”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3749040"/>
            <a:ext cx="7315200" cy="1737360"/>
          </a:xfrm>
          <a:prstGeom prst="roundRect">
            <a:avLst>
              <a:gd name="adj" fmla="val 4211"/>
            </a:avLst>
          </a:prstGeom>
          <a:solidFill>
            <a:srgbClr val="E8F1F5"/>
          </a:solidFill>
          <a:ln/>
        </p:spPr>
      </p:sp>
      <p:sp>
        <p:nvSpPr>
          <p:cNvPr id="10" name="Text 6"/>
          <p:cNvSpPr/>
          <p:nvPr/>
        </p:nvSpPr>
        <p:spPr>
          <a:xfrm>
            <a:off x="822960" y="393192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</a:rPr>
              <a:t>What stayed manual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22960" y="4251960"/>
            <a:ext cx="6766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</a:rPr>
              <a:t>Multi-step checkout / billing form (TC-011) — stateful and its value comes from judging on-screen validation messages, better assessed by a human at this stage.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138160" y="1600200"/>
            <a:ext cx="3474720" cy="3886200"/>
          </a:xfrm>
          <a:prstGeom prst="roundRect">
            <a:avLst>
              <a:gd name="adj" fmla="val 2105"/>
            </a:avLst>
          </a:prstGeom>
          <a:solidFill>
            <a:srgbClr val="065A82"/>
          </a:solidFill>
          <a:ln/>
        </p:spPr>
      </p:sp>
      <p:sp>
        <p:nvSpPr>
          <p:cNvPr id="13" name="Text 9"/>
          <p:cNvSpPr/>
          <p:nvPr/>
        </p:nvSpPr>
        <p:spPr>
          <a:xfrm>
            <a:off x="8138160" y="26517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2 / 2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8138160" y="3429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1F5"/>
                </a:solidFill>
              </a:rPr>
              <a:t>tests passed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458200" y="411480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1F5"/>
                </a:solidFill>
              </a:rPr>
              <a:t>Root cause of early flakiness: shared account needed to be registered on the site before the first run.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</a:rPr>
              <a:t>LAB 5 — EMILIEN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Framework Automation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" cy="548640"/>
          </a:xfrm>
          <a:prstGeom prst="ellipse">
            <a:avLst/>
          </a:prstGeom>
          <a:solidFill>
            <a:srgbClr val="E8F1F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" y="1671523"/>
            <a:ext cx="405994" cy="4059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</a:rPr>
              <a:t>Keyword-driven UI testing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34440" y="1965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</a:rPr>
              <a:t>2 tests · 2 custom keywords · 5 variables · HTML report auto-generated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7315200" cy="1005840"/>
        </p:xfrm>
        <a:graphic>
          <a:graphicData uri="http://schemas.openxmlformats.org/drawingml/2006/table">
            <a:tbl>
              <a:tblPr/>
              <a:tblGrid>
                <a:gridCol w="1645920"/>
                <a:gridCol w="4572000"/>
                <a:gridCol w="109728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TC-001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Login with valid credentials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TC-NEG-001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Login with wrong password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PASS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3749040"/>
            <a:ext cx="7315200" cy="1920240"/>
          </a:xfrm>
          <a:prstGeom prst="roundRect">
            <a:avLst>
              <a:gd name="adj" fmla="val 3810"/>
            </a:avLst>
          </a:prstGeom>
          <a:solidFill>
            <a:srgbClr val="FDF3E3"/>
          </a:solidFill>
          <a:ln/>
        </p:spPr>
      </p:sp>
      <p:sp>
        <p:nvSpPr>
          <p:cNvPr id="10" name="Shape 6"/>
          <p:cNvSpPr/>
          <p:nvPr/>
        </p:nvSpPr>
        <p:spPr>
          <a:xfrm>
            <a:off x="777240" y="3931920"/>
            <a:ext cx="411480" cy="4114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732" y="3985412"/>
            <a:ext cx="304495" cy="30449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3950208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5A00"/>
                </a:solidFill>
              </a:rPr>
              <a:t>A real timing bug — found and fixed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822960" y="429768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95C"/>
                </a:solidFill>
              </a:rPr>
              <a:t>TC-001 failed intermittently right after login, before the redirect finished — a race condition, not a data or app problem.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822960" y="48920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trike="sngStrike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 Should Contain    Log out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84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 Until Page Contains    Log out    timeout=5s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8138160" y="1600200"/>
            <a:ext cx="3474720" cy="3886200"/>
          </a:xfrm>
          <a:prstGeom prst="roundRect">
            <a:avLst>
              <a:gd name="adj" fmla="val 2105"/>
            </a:avLst>
          </a:prstGeom>
          <a:solidFill>
            <a:srgbClr val="065A82"/>
          </a:solidFill>
          <a:ln/>
        </p:spPr>
      </p:sp>
      <p:sp>
        <p:nvSpPr>
          <p:cNvPr id="16" name="Text 11"/>
          <p:cNvSpPr/>
          <p:nvPr/>
        </p:nvSpPr>
        <p:spPr>
          <a:xfrm>
            <a:off x="8138160" y="26517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2 / 2</a:t>
            </a:r>
            <a:endParaRPr lang="en-US" sz="4400" dirty="0"/>
          </a:p>
        </p:txBody>
      </p:sp>
      <p:sp>
        <p:nvSpPr>
          <p:cNvPr id="17" name="Text 12"/>
          <p:cNvSpPr/>
          <p:nvPr/>
        </p:nvSpPr>
        <p:spPr>
          <a:xfrm>
            <a:off x="8138160" y="3429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1F5"/>
                </a:solidFill>
              </a:rPr>
              <a:t>tests passed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458200" y="411480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1F5"/>
                </a:solidFill>
              </a:rPr>
              <a:t>Selenium vs Robot: Robot wins on readability &amp; built-in reporting; Selenium scales better for complex logic.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</a:rPr>
              <a:t>LAB 6 — LUCCAS COLLAS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— API Testing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" cy="548640"/>
          </a:xfrm>
          <a:prstGeom prst="ellipse">
            <a:avLst/>
          </a:prstGeom>
          <a:solidFill>
            <a:srgbClr val="E8F1F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" y="1671523"/>
            <a:ext cx="405994" cy="4059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</a:rPr>
              <a:t>TSD 2026 - TeamVeryOrganized - API Tests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34440" y="1965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</a:rPr>
              <a:t>Target: jsonplaceholder.typicode.com (SUT exposes no public API)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7315200" cy="1828800"/>
        </p:xfrm>
        <a:graphic>
          <a:graphicData uri="http://schemas.openxmlformats.org/drawingml/2006/table">
            <a:tbl>
              <a:tblPr/>
              <a:tblGrid>
                <a:gridCol w="1463040"/>
                <a:gridCol w="402336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Endpoint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/users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Positive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/users/1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Positive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POST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/posts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Positive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GET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/users/999999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Negative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8138160" y="1600200"/>
            <a:ext cx="3474720" cy="3886200"/>
          </a:xfrm>
          <a:prstGeom prst="roundRect">
            <a:avLst>
              <a:gd name="adj" fmla="val 2105"/>
            </a:avLst>
          </a:prstGeom>
          <a:solidFill>
            <a:srgbClr val="065A82"/>
          </a:solidFill>
          <a:ln/>
        </p:spPr>
      </p:sp>
      <p:sp>
        <p:nvSpPr>
          <p:cNvPr id="10" name="Text 6"/>
          <p:cNvSpPr/>
          <p:nvPr/>
        </p:nvSpPr>
        <p:spPr>
          <a:xfrm>
            <a:off x="8138160" y="23774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9 / 9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8138160" y="3108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1F5"/>
                </a:solidFill>
              </a:rPr>
              <a:t>assertions passed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458200" y="374904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1F5"/>
                </a:solidFill>
              </a:rPr>
              <a:t>4 requests · GET + POST · positive &amp; negative cases · runnable via Collection Runner or Newman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48640" y="4663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A"/>
                </a:solidFill>
              </a:rPr>
              <a:t>Fastest and most stable layer of the whole project — no flakiness observed.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D3E8"/>
                </a:solidFill>
              </a:rPr>
              <a:t>RESULTS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33 Checks Across Four Test Layers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554480"/>
            <a:ext cx="3840480" cy="1188720"/>
          </a:xfrm>
          <a:prstGeom prst="roundRect">
            <a:avLst>
              <a:gd name="adj" fmla="val 6154"/>
            </a:avLst>
          </a:prstGeom>
          <a:solidFill>
            <a:srgbClr val="065A82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0" y="164592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32 / 33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77240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1F5"/>
                </a:solidFill>
              </a:rPr>
              <a:t>checks passed (~97%)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0" y="2926080"/>
            <a:ext cx="3840480" cy="2651760"/>
          </a:xfrm>
          <a:prstGeom prst="roundRect">
            <a:avLst>
              <a:gd name="adj" fmla="val 2759"/>
            </a:avLst>
          </a:prstGeom>
          <a:solidFill>
            <a:srgbClr val="065A82">
              <a:alpha val="6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8046720" y="3108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D3E8"/>
                </a:solidFill>
              </a:rPr>
              <a:t>Key takeaway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46720" y="3474720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1F5"/>
                </a:solidFill>
              </a:rPr>
              <a:t>The single failure (BUG-001) is a real, reproducible application defect — not test flakiness. One automation timing bug was also found and fixed during the project.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4114800"/>
            <a:ext cx="6400800" cy="64008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D3E8"/>
                </a:solidFill>
              </a:rPr>
              <a:t>CLOSING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Lessons Learned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175107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64592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1F5"/>
                </a:solidFill>
              </a:rPr>
              <a:t>API tests were the fastest and most stable; UI tests were the most fragile — mostly due to authentication state and timing.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5328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" y="2592324"/>
            <a:ext cx="338328" cy="3383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48716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1F5"/>
                </a:solidFill>
              </a:rPr>
              <a:t>UI automation that logs in needs the account to actually exist and be stable — registering it first fixed early flaky failures.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337413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3433572"/>
            <a:ext cx="338328" cy="3383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3328416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1F5"/>
                </a:solidFill>
              </a:rPr>
              <a:t>A Robot Framework login test failed intermittently due to a timing race condition, not a data problem — fixed with a polling wait instead of a one-shot assertion.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548640" y="421538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" y="4274820"/>
            <a:ext cx="338328" cy="33832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4169664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1F5"/>
                </a:solidFill>
              </a:rPr>
              <a:t>Code coverage spots untested code but does not prove test quality — strong assertions matter more than the percentage.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548640" y="505663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" y="5116068"/>
            <a:ext cx="338328" cy="33832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34440" y="501091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1F5"/>
                </a:solidFill>
              </a:rPr>
              <a:t>Centralising configuration (URLs, credentials, locators) made automation suites easy to retarget and reduced duplication.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A"/>
                </a:solidFill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TSD 2026 - Final Defense</dc:title>
  <dc:subject>PptxGenJS Presentation</dc:subject>
  <dc:creator>TeamVeryOrganized</dc:creator>
  <cp:lastModifiedBy>TeamVeryOrganized</cp:lastModifiedBy>
  <cp:revision>1</cp:revision>
  <dcterms:created xsi:type="dcterms:W3CDTF">2026-07-09T14:29:58Z</dcterms:created>
  <dcterms:modified xsi:type="dcterms:W3CDTF">2026-07-09T14:29:58Z</dcterms:modified>
</cp:coreProperties>
</file>